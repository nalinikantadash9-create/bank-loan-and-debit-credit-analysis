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Funded ₹M</c:v>
                </c:pt>
              </c:strCache>
            </c:strRef>
          </c:tx>
          <c:spPr>
            <a:solidFill>
              <a:srgbClr val="0E9F8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Uttar Pradesh</c:v>
                </c:pt>
                <c:pt idx="1">
                  <c:v>Punjab</c:v>
                </c:pt>
                <c:pt idx="2">
                  <c:v>Bihar</c:v>
                </c:pt>
                <c:pt idx="3">
                  <c:v>Haryana</c:v>
                </c:pt>
                <c:pt idx="4">
                  <c:v>Rajasthan</c:v>
                </c:pt>
                <c:pt idx="5">
                  <c:v>Odisha</c:v>
                </c:pt>
                <c:pt idx="6">
                  <c:v>Assam</c:v>
                </c:pt>
                <c:pt idx="7">
                  <c:v>West Bengal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135.4</c:v>
                </c:pt>
                <c:pt idx="1">
                  <c:v>115.9</c:v>
                </c:pt>
                <c:pt idx="2">
                  <c:v>93.3</c:v>
                </c:pt>
                <c:pt idx="3">
                  <c:v>78.8</c:v>
                </c:pt>
                <c:pt idx="4">
                  <c:v>65.5</c:v>
                </c:pt>
                <c:pt idx="5">
                  <c:v>46.5</c:v>
                </c:pt>
                <c:pt idx="6">
                  <c:v>44.2</c:v>
                </c:pt>
                <c:pt idx="7">
                  <c:v>39.1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55-4165-A28F-1EBA2266459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Delinquency %</c:v>
                </c:pt>
              </c:strCache>
            </c:strRef>
          </c:tx>
          <c:spPr>
            <a:solidFill>
              <a:srgbClr val="D1495B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3.9</c:v>
                </c:pt>
                <c:pt idx="1">
                  <c:v>9.1</c:v>
                </c:pt>
                <c:pt idx="2">
                  <c:v>13.6</c:v>
                </c:pt>
                <c:pt idx="3">
                  <c:v>17.3</c:v>
                </c:pt>
                <c:pt idx="4">
                  <c:v>17.100000000000001</c:v>
                </c:pt>
                <c:pt idx="5">
                  <c:v>21.9</c:v>
                </c:pt>
                <c:pt idx="6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F6-40DA-8583-8F113F529AF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interest %</c:v>
                </c:pt>
              </c:strCache>
            </c:strRef>
          </c:tx>
          <c:spPr>
            <a:solidFill>
              <a:srgbClr val="0B2A4A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7.3</c:v>
                </c:pt>
                <c:pt idx="1">
                  <c:v>11</c:v>
                </c:pt>
                <c:pt idx="2">
                  <c:v>13.6</c:v>
                </c:pt>
                <c:pt idx="3">
                  <c:v>15.7</c:v>
                </c:pt>
                <c:pt idx="4">
                  <c:v>17.7</c:v>
                </c:pt>
                <c:pt idx="5">
                  <c:v>19.8</c:v>
                </c:pt>
                <c:pt idx="6">
                  <c:v>21.4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5F6-40DA-8583-8F113F529AF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Funded ₹M</c:v>
                </c:pt>
              </c:strCache>
            </c:strRef>
          </c:tx>
          <c:spPr>
            <a:solidFill>
              <a:srgbClr val="F2A9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FY17</c:v>
                </c:pt>
                <c:pt idx="1">
                  <c:v>FY18</c:v>
                </c:pt>
                <c:pt idx="2">
                  <c:v>FY19</c:v>
                </c:pt>
                <c:pt idx="3">
                  <c:v>FY20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30.5</c:v>
                </c:pt>
                <c:pt idx="1">
                  <c:v>223.7</c:v>
                </c:pt>
                <c:pt idx="2">
                  <c:v>418.1</c:v>
                </c:pt>
                <c:pt idx="3">
                  <c:v>60.5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9E-4235-B0AD-F398630F839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Amount ₹M</c:v>
                </c:pt>
              </c:strCache>
            </c:strRef>
          </c:tx>
          <c:spPr>
            <a:solidFill>
              <a:srgbClr val="0B2A4A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Dec*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24</c:v>
                </c:pt>
                <c:pt idx="1">
                  <c:v>21.7</c:v>
                </c:pt>
                <c:pt idx="2">
                  <c:v>23.6</c:v>
                </c:pt>
                <c:pt idx="3">
                  <c:v>22.7</c:v>
                </c:pt>
                <c:pt idx="4">
                  <c:v>23.7</c:v>
                </c:pt>
                <c:pt idx="5">
                  <c:v>22.7</c:v>
                </c:pt>
                <c:pt idx="6">
                  <c:v>23.5</c:v>
                </c:pt>
                <c:pt idx="7">
                  <c:v>23</c:v>
                </c:pt>
                <c:pt idx="8">
                  <c:v>22.8</c:v>
                </c:pt>
                <c:pt idx="9">
                  <c:v>23.8</c:v>
                </c:pt>
                <c:pt idx="10">
                  <c:v>22.6</c:v>
                </c:pt>
                <c:pt idx="11">
                  <c:v>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D6-4B9B-8E99-32D421AA667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 risk</c:v>
                </c:pt>
              </c:strCache>
            </c:strRef>
          </c:tx>
          <c:spPr>
            <a:solidFill>
              <a:srgbClr val="D1495B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Share of transactions</c:v>
                </c:pt>
                <c:pt idx="1">
                  <c:v>Share of value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20.399999999999999</c:v>
                </c:pt>
                <c:pt idx="1">
                  <c:v>36.1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91-4630-B2F0-0E72605398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Normal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Share of transactions</c:v>
                </c:pt>
                <c:pt idx="1">
                  <c:v>Share of value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79.599999999999994</c:v>
                </c:pt>
                <c:pt idx="1">
                  <c:v>63.9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791-4630-B2F0-0E72605398F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Amount ₹M</c:v>
                </c:pt>
              </c:strCache>
            </c:strRef>
          </c:tx>
          <c:spPr>
            <a:solidFill>
              <a:srgbClr val="0E9F8E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City Center</c:v>
                </c:pt>
                <c:pt idx="1">
                  <c:v>Main</c:v>
                </c:pt>
                <c:pt idx="2">
                  <c:v>East</c:v>
                </c:pt>
                <c:pt idx="3">
                  <c:v>Downtown</c:v>
                </c:pt>
                <c:pt idx="4">
                  <c:v>Suburban</c:v>
                </c:pt>
                <c:pt idx="5">
                  <c:v>North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42.9</c:v>
                </c:pt>
                <c:pt idx="1">
                  <c:v>42.8</c:v>
                </c:pt>
                <c:pt idx="2">
                  <c:v>42.7</c:v>
                </c:pt>
                <c:pt idx="3">
                  <c:v>42.6</c:v>
                </c:pt>
                <c:pt idx="4">
                  <c:v>42.2</c:v>
                </c:pt>
                <c:pt idx="5">
                  <c:v>41.7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F7-4B56-96ED-1C7DEB8CA52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9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43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PRESENTATION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6766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Loan &amp;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Debit–Credit Analytics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8404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9F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 POWER BI    SQL   TABLEAU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394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Nalinikanta Dash  |  Data Analyst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412480" y="914400"/>
            <a:ext cx="1554480" cy="155448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0" y="1371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65,535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0104120" y="1417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analysed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412480" y="2697480"/>
            <a:ext cx="1554480" cy="15544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0" y="3154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0104120" y="3200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analysed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412480" y="4480560"/>
            <a:ext cx="1554480" cy="155448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0" y="4937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10104120" y="4983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tools used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8640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645920"/>
            <a:ext cx="822960" cy="82296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18516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74520" y="17830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Loan Analytics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78892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of 65,535 microfinance-style loans across 112 branches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funding, collections, interest income and repayment risk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Excel (pivots, slicers, VBA), Power BI and Tableau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309360" y="1371600"/>
            <a:ext cx="548640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629400" y="1645920"/>
            <a:ext cx="822960" cy="82296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140" y="185166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635240" y="17830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Debit &amp; Credit Analytics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6675120" y="278892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INR transactions across 6 banks and 6 branches in 2024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credit vs debit flow, methods, trends and high-risk activity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Excel, Power BI and Tableau with matching KPIs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548640" y="4892040"/>
            <a:ext cx="359359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77240" y="5230368"/>
            <a:ext cx="566928" cy="566928"/>
          </a:xfrm>
          <a:prstGeom prst="ellipse">
            <a:avLst/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2" y="5372100"/>
            <a:ext cx="283464" cy="28346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08760" y="5074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508760" y="542239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tables, slicers, VBA macros, dashboards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4389120" y="4892040"/>
            <a:ext cx="359359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617720" y="5230368"/>
            <a:ext cx="566928" cy="566928"/>
          </a:xfrm>
          <a:prstGeom prst="ellipse">
            <a:avLst/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9452" y="5372100"/>
            <a:ext cx="283464" cy="28346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349240" y="5074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5349240" y="542239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measures, 2-page interactive report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8229600" y="4892040"/>
            <a:ext cx="359359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458200" y="5230368"/>
            <a:ext cx="566928" cy="566928"/>
          </a:xfrm>
          <a:prstGeom prst="ellipse">
            <a:avLst/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9932" y="5372100"/>
            <a:ext cx="283464" cy="28346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189720" y="5074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9189720" y="542239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fields, KPI and chart sheets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Overview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48640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508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 portfolio dataset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1488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148840" y="2148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65,535 loans, 55 fields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7919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148840" y="26791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Disbursed Nov 2016 – Feb 2020 (FY17–FY20)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20954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148840" y="320954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 branches, 11 regions, 15 states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73989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148840" y="373989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₹751.0M loan amount, ₹732.7M funded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27024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148840" y="42702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99.96% women (65,511); age 18–62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8006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148840" y="4800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Grade, term, status, purpose, interest, repayment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309360" y="1325880"/>
            <a:ext cx="548640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629400" y="1508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Debit &amp; credit dataset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21488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909560" y="2148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transactions, 14 fields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629400" y="267919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909560" y="26791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– Dec 2024 (Dec has only 305 rows)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629400" y="320954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909560" y="320954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banks × 6 branches, all in INR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6629400" y="373989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909560" y="373989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₹254.9M total, ₹100 – ₹5,000 per txn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629400" y="427024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909560" y="42702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transfer, credit card, debit card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629400" y="48006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909560" y="4800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nulls, no duplicates, no negatives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548640" y="557784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77240" y="5687568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824728"/>
            <a:ext cx="274320" cy="274320"/>
          </a:xfrm>
          <a:prstGeom prst="rect">
            <a:avLst/>
          </a:prstGeom>
        </p:spPr>
      </p:pic>
      <p:sp>
        <p:nvSpPr>
          <p:cNvPr id="34" name="Text 31"/>
          <p:cNvSpPr txBox="1"/>
          <p:nvPr/>
        </p:nvSpPr>
        <p:spPr>
          <a:xfrm>
            <a:off x="1508760" y="562356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Data-quality flags: 39% of loans have no grade, verification or home-ownership value; disbursement dates use mixed formats; every transaction has a unique Customer ID.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600200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00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portfolio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2423160"/>
            <a:ext cx="502920" cy="502920"/>
          </a:xfrm>
          <a:prstGeom prst="ellipse">
            <a:avLst/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3774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portfolio size, collections and interest income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68680" y="3337560"/>
            <a:ext cx="502920" cy="502920"/>
          </a:xfrm>
          <a:prstGeom prst="ellipse">
            <a:avLst/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2918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delinquency and default risk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68680" y="4251960"/>
            <a:ext cx="502920" cy="502920"/>
          </a:xfrm>
          <a:prstGeom prst="ellipse">
            <a:avLst/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2062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where lending is concentrated: state, branch, product, borrower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68680" y="5166360"/>
            <a:ext cx="502920" cy="502920"/>
          </a:xfrm>
          <a:prstGeom prst="ellipse">
            <a:avLst/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5166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51206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disbursement growth across financial years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309360" y="132588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29400" y="1600200"/>
            <a:ext cx="3383280" cy="457200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29400" y="16002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 &amp; credit transactions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629400" y="2423160"/>
            <a:ext cx="502920" cy="502920"/>
          </a:xfrm>
          <a:prstGeom prst="ellipse">
            <a:avLst/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2940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23774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credit vs debit flow and the net position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629400" y="3337560"/>
            <a:ext cx="502920" cy="502920"/>
          </a:xfrm>
          <a:prstGeom prst="ellipse">
            <a:avLst/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2940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32918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banks, branches and payment methods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629400" y="4251960"/>
            <a:ext cx="502920" cy="502920"/>
          </a:xfrm>
          <a:prstGeom prst="ellipse">
            <a:avLst/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2940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0" y="42062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activity moves month by month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629400" y="5166360"/>
            <a:ext cx="502920" cy="502920"/>
          </a:xfrm>
          <a:prstGeom prst="ellipse">
            <a:avLst/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29400" y="5166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315200" y="51206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high-risk transactions for review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 KPIs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5176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20574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₹732.7M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97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funded amount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337560" y="1874520"/>
            <a:ext cx="265176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20440" y="20574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65,535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697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loans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265176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31520" y="34747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₹814.9M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114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collection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337560" y="3291840"/>
            <a:ext cx="265176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520440" y="34747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₹155.3M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4114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received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265176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31520" y="48920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D14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10.84%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5532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Delinquent loan rate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337560" y="4709160"/>
            <a:ext cx="265176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3520440" y="48920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D14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1.56%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3520440" y="5532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loan rate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12801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Debit &amp; credit KPIs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309360" y="1874520"/>
            <a:ext cx="265176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492240" y="20574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₹254.9M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2697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 amount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9098280" y="1874520"/>
            <a:ext cx="265176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9281160" y="20574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₹127.6M</a:t>
            </a:r>
            <a:endParaRPr lang="en-US" sz="3000" dirty="0"/>
          </a:p>
        </p:txBody>
      </p:sp>
      <p:sp>
        <p:nvSpPr>
          <p:cNvPr id="28" name="Text 26"/>
          <p:cNvSpPr txBox="1"/>
          <p:nvPr/>
        </p:nvSpPr>
        <p:spPr>
          <a:xfrm>
            <a:off x="9281160" y="2697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credit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309360" y="3291840"/>
            <a:ext cx="265176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6492240" y="34747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₹127.3M</a:t>
            </a:r>
            <a:endParaRPr lang="en-US" sz="3000" dirty="0"/>
          </a:p>
        </p:txBody>
      </p:sp>
      <p:sp>
        <p:nvSpPr>
          <p:cNvPr id="31" name="Text 29"/>
          <p:cNvSpPr txBox="1"/>
          <p:nvPr/>
        </p:nvSpPr>
        <p:spPr>
          <a:xfrm>
            <a:off x="6492240" y="4114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debit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9098280" y="3291840"/>
            <a:ext cx="265176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9281160" y="34747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1.0025</a:t>
            </a:r>
            <a:endParaRPr lang="en-US" sz="3000" dirty="0"/>
          </a:p>
        </p:txBody>
      </p:sp>
      <p:sp>
        <p:nvSpPr>
          <p:cNvPr id="34" name="Text 32"/>
          <p:cNvSpPr txBox="1"/>
          <p:nvPr/>
        </p:nvSpPr>
        <p:spPr>
          <a:xfrm>
            <a:off x="9281160" y="4114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Credit-to-debit ratio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6309360" y="4709160"/>
            <a:ext cx="265176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6492240" y="48920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</a:t>
            </a:r>
            <a:endParaRPr lang="en-US" sz="3000" dirty="0"/>
          </a:p>
        </p:txBody>
      </p:sp>
      <p:sp>
        <p:nvSpPr>
          <p:cNvPr id="37" name="Text 35"/>
          <p:cNvSpPr txBox="1"/>
          <p:nvPr/>
        </p:nvSpPr>
        <p:spPr>
          <a:xfrm>
            <a:off x="6492240" y="5532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9098280" y="4709160"/>
            <a:ext cx="265176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9281160" y="48920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D14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20.4%</a:t>
            </a:r>
            <a:endParaRPr lang="en-US" sz="3000" dirty="0"/>
          </a:p>
        </p:txBody>
      </p:sp>
      <p:sp>
        <p:nvSpPr>
          <p:cNvPr id="40" name="Text 38"/>
          <p:cNvSpPr txBox="1"/>
          <p:nvPr/>
        </p:nvSpPr>
        <p:spPr>
          <a:xfrm>
            <a:off x="9281160" y="5532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transactions</a:t>
            </a:r>
            <a:endParaRPr lang="en-US" sz="135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62179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tracked: total revenue ₹156.6M (interest + fees + late fees), recoveries ₹6.5M, average loan ₹11.5K, average interest rate 12.03%, net credit–debit ₹0.32M, activity ratio, transactions per day/week/month, customer count.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764792" cy="3657600"/>
          </a:xfrm>
          <a:prstGeom prst="roundRect">
            <a:avLst>
              <a:gd name="adj" fmla="val 4145"/>
            </a:avLst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24128" y="1965960"/>
            <a:ext cx="822960" cy="822960"/>
          </a:xfrm>
          <a:prstGeom prst="ellipse">
            <a:avLst/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868" y="21717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2971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Collect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566160"/>
            <a:ext cx="1508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file (65,535 rows) and transaction file (100,000 rows)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2441448" y="1737360"/>
            <a:ext cx="1764792" cy="3657600"/>
          </a:xfrm>
          <a:prstGeom prst="roundRect">
            <a:avLst>
              <a:gd name="adj" fmla="val 4145"/>
            </a:avLst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916936" y="1965960"/>
            <a:ext cx="822960" cy="82296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2676" y="217170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551176" y="2971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Clean &amp; prepare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2578608" y="3566160"/>
            <a:ext cx="1508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types and dates, handle blanks, standardise labels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4334256" y="1737360"/>
            <a:ext cx="1764792" cy="3657600"/>
          </a:xfrm>
          <a:prstGeom prst="roundRect">
            <a:avLst>
              <a:gd name="adj" fmla="val 4145"/>
            </a:avLst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809744" y="1965960"/>
            <a:ext cx="822960" cy="822960"/>
          </a:xfrm>
          <a:prstGeom prst="ellipse">
            <a:avLst/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5484" y="217170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443984" y="2971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Model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4471416" y="3566160"/>
            <a:ext cx="1508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tables, data model, DAX measures, Tableau calculated fields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6227064" y="1737360"/>
            <a:ext cx="1764792" cy="3657600"/>
          </a:xfrm>
          <a:prstGeom prst="roundRect">
            <a:avLst>
              <a:gd name="adj" fmla="val 4145"/>
            </a:avLst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702552" y="1965960"/>
            <a:ext cx="822960" cy="82296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8292" y="217170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336792" y="2971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Define KPIs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364224" y="3566160"/>
            <a:ext cx="1508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loan KPIs and 8 transaction KPIs, same logic across tools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8119872" y="1737360"/>
            <a:ext cx="1764792" cy="3657600"/>
          </a:xfrm>
          <a:prstGeom prst="roundRect">
            <a:avLst>
              <a:gd name="adj" fmla="val 4145"/>
            </a:avLst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595360" y="1965960"/>
            <a:ext cx="822960" cy="822960"/>
          </a:xfrm>
          <a:prstGeom prst="ellipse">
            <a:avLst/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01100" y="2171700"/>
            <a:ext cx="411480" cy="4114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8229600" y="2971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Visualize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8257032" y="3566160"/>
            <a:ext cx="1508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dashboards with slicers, Power BI report, Tableau sheets</a:t>
            </a:r>
            <a:endParaRPr lang="en-US" sz="1350" dirty="0"/>
          </a:p>
        </p:txBody>
      </p:sp>
      <p:sp>
        <p:nvSpPr>
          <p:cNvPr id="28" name="Shape 21"/>
          <p:cNvSpPr/>
          <p:nvPr/>
        </p:nvSpPr>
        <p:spPr>
          <a:xfrm>
            <a:off x="10012680" y="1737360"/>
            <a:ext cx="1764792" cy="3657600"/>
          </a:xfrm>
          <a:prstGeom prst="roundRect">
            <a:avLst>
              <a:gd name="adj" fmla="val 4145"/>
            </a:avLst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10488168" y="1965960"/>
            <a:ext cx="822960" cy="82296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93908" y="2171700"/>
            <a:ext cx="411480" cy="41148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0122408" y="2971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Insight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10149840" y="3566160"/>
            <a:ext cx="1508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patterns and turn them into recommendations</a:t>
            </a:r>
            <a:endParaRPr lang="en-US" sz="1350" dirty="0"/>
          </a:p>
        </p:txBody>
      </p:sp>
      <p:sp>
        <p:nvSpPr>
          <p:cNvPr id="33" name="Shape 25"/>
          <p:cNvSpPr/>
          <p:nvPr/>
        </p:nvSpPr>
        <p:spPr>
          <a:xfrm>
            <a:off x="548640" y="5623560"/>
            <a:ext cx="112471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Text 26"/>
          <p:cNvSpPr txBox="1"/>
          <p:nvPr/>
        </p:nvSpPr>
        <p:spPr>
          <a:xfrm>
            <a:off x="822960" y="56235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Cross-checked: loan KPIs reconcile between the raw data, Excel pivots and the dashboard cards (₹732.7M funded, 65,535 loans, ₹814.9M collected).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Analysis: Loan Portfolio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611880" cy="48463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379976" y="1234440"/>
            <a:ext cx="3611880" cy="48463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11312" y="1234440"/>
            <a:ext cx="3611880" cy="48463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31520" y="13716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 amount by state (₹M)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562856" y="13716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Delinquency vs interest rate by grade (%)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394192" y="13716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 amount by financial year (₹M)</a:t>
            </a:r>
            <a:endParaRPr lang="en-US" sz="13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640080" y="1783080"/>
          <a:ext cx="342900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1"/>
          <p:cNvGraphicFramePr/>
          <p:nvPr/>
        </p:nvGraphicFramePr>
        <p:xfrm>
          <a:off x="4471416" y="1783080"/>
          <a:ext cx="342900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Chart 2"/>
          <p:cNvGraphicFramePr/>
          <p:nvPr/>
        </p:nvGraphicFramePr>
        <p:xfrm>
          <a:off x="8302752" y="1783080"/>
          <a:ext cx="342900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731520" y="502920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states (UP, Punjab, Bihar, Haryana) hold 58% of funding. Home loans are the top purpose at 37%.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4562856" y="502920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climbs steadily with grade: 3.9% delinquent at A versus 26.0% at G, and pricing rises from 7% to 21%.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8394192" y="502920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FY19 was the peak year with 57% of all funding. FY20 is smaller because the data stops at Feb 2020 (11 months).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Analysis: Debit &amp; Credit Transactions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611880" cy="48463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379976" y="1234440"/>
            <a:ext cx="3611880" cy="48463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11312" y="1234440"/>
            <a:ext cx="3611880" cy="48463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31520" y="13716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transaction amount (₹M)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562856" y="13716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share of transactions (%)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394192" y="13716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by branch (₹M)</a:t>
            </a:r>
            <a:endParaRPr lang="en-US" sz="13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640080" y="1783080"/>
          <a:ext cx="342900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1"/>
          <p:cNvGraphicFramePr/>
          <p:nvPr/>
        </p:nvGraphicFramePr>
        <p:xfrm>
          <a:off x="4471416" y="1783080"/>
          <a:ext cx="342900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Chart 2"/>
          <p:cNvGraphicFramePr/>
          <p:nvPr/>
        </p:nvGraphicFramePr>
        <p:xfrm>
          <a:off x="8302752" y="1783080"/>
          <a:ext cx="342900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731520" y="502920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₹22–24M a month; February dips with fewer days. *December holds only 305 rows, so it is not a real drop.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4562856" y="502920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transactions are 20% of volume but 36% of value. The flag is simply amount ≥ ₹4,000 (avg ₹4,507 vs ₹2,046).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8394192" y="502920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Branches, banks and methods are almost identical (within about 3%), so no single channel stands out.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 &amp; Recommendations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084832"/>
            <a:ext cx="502920" cy="50292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901952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rises sharply with grade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D–G are 30% of graded funding and run 17–26% delinquency, against 4% for grade 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44368"/>
            <a:ext cx="5486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3200400"/>
            <a:ext cx="502920" cy="50292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01752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60-month loans earn more but default more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14.9% average rate vs 10.8%, with a 2.05% default rate vs 1.35% for 36-month loans.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059936"/>
            <a:ext cx="5486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4315968"/>
            <a:ext cx="502920" cy="50292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315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13308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is concentrated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UP, Punjab, Bihar and Haryana take 58% of funding; Haryana (10.0%) and Odisha (10.2%) have the lowest delinquency of the large states.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175504"/>
            <a:ext cx="5486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5431536"/>
            <a:ext cx="502920" cy="50292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5431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5248656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flow is balanced, risk flag is blunt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Credit-to-debit is 1.0025, and the high-risk flag only checks amount ≥ ₹4,000.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1234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6309360" y="1828800"/>
            <a:ext cx="5486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92240" y="2084832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92240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1901952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pricing and limits for grades D–G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early-warning follow-up for E–G accounts; review approval rules for these grades.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309360" y="2944368"/>
            <a:ext cx="5486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92240" y="320040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9224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301752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60-month product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 the extra yield against the higher default rate; consider tighter eligibility.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309360" y="4059936"/>
            <a:ext cx="5486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92240" y="4315968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92240" y="4315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178040" y="413308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where risk is lower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Haryana and Odisha, and reduce reliance on four states.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309360" y="5175504"/>
            <a:ext cx="5486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92240" y="5431536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92240" y="5431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7178040" y="5248656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data and risk rules stronger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grade and verification fields; add behaviour-based rules (frequency, new payees) to the amount flag.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611880" cy="3200400"/>
          </a:xfrm>
          <a:prstGeom prst="roundRect">
            <a:avLst>
              <a:gd name="adj" fmla="val 2286"/>
            </a:avLst>
          </a:prstGeom>
          <a:solidFill>
            <a:srgbClr val="12395F"/>
          </a:solidFill>
          <a:ln w="19050">
            <a:solidFill>
              <a:srgbClr val="0E9F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Healthy, well-collected book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918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₹814.9M collected on ₹751.0M of loans; 89% of funded principal already recovered.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43400" y="1463040"/>
            <a:ext cx="3611880" cy="3200400"/>
          </a:xfrm>
          <a:prstGeom prst="roundRect">
            <a:avLst>
              <a:gd name="adj" fmla="val 2286"/>
            </a:avLst>
          </a:prstGeom>
          <a:solidFill>
            <a:srgbClr val="12395F"/>
          </a:solidFill>
          <a:ln w="19050">
            <a:solidFill>
              <a:srgbClr val="F2A9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0" y="1737360"/>
            <a:ext cx="640080" cy="6400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772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2606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is predictable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32918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and loan term explain most of the difference in delinquency and default.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38160" y="1463040"/>
            <a:ext cx="3611880" cy="3200400"/>
          </a:xfrm>
          <a:prstGeom prst="roundRect">
            <a:avLst>
              <a:gd name="adj" fmla="val 2286"/>
            </a:avLst>
          </a:prstGeom>
          <a:solidFill>
            <a:srgbClr val="12395F"/>
          </a:solidFill>
          <a:ln w="19050">
            <a:solidFill>
              <a:srgbClr val="D1495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0" y="1737360"/>
            <a:ext cx="640080" cy="64008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1248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2606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Transactions are balanced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32918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and debit flows match closely; the risk flag needs richer rules.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Tying the same KPIs across Excel, Power BI and Tableau gave one consistent view of both portfolios and a clear list of next steps.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Learning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8640" cy="54864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17320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2801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2011680"/>
            <a:ext cx="548640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77240" y="2066544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files and messy fields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 MB workbook with a million-row sheet; mixed date formats; a stray "State Name" value in 5,031 rows.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090672"/>
            <a:ext cx="548640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77240" y="3145536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 of loans lack grade, verification and home ownership; age group is blank on most rows.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4169664"/>
            <a:ext cx="548640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77240" y="4224528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definitions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"Default loan rate" in Excel equals the delinquent rate (10.84%); the default flag gives 1.56%. The DATA-sheet "Total Collection" cell shows 7,883, not ₹814.9M.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5248656"/>
            <a:ext cx="548640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77240" y="53035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in the data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 ID per transaction blocks repeat-customer analysis; December is partial.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309360" y="1280160"/>
            <a:ext cx="548640" cy="54864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41732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040880" y="12801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</a:t>
            </a:r>
            <a:endParaRPr lang="en-US" sz="2400" dirty="0"/>
          </a:p>
        </p:txBody>
      </p:sp>
      <p:sp>
        <p:nvSpPr>
          <p:cNvPr id="17" name="Shape 13"/>
          <p:cNvSpPr/>
          <p:nvPr/>
        </p:nvSpPr>
        <p:spPr>
          <a:xfrm>
            <a:off x="6309360" y="2011680"/>
            <a:ext cx="548640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6537960" y="2066544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KPIs before building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each formula once and reuse it in Excel, DAX and Tableau.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309360" y="3090672"/>
            <a:ext cx="548640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6"/>
          <p:cNvSpPr txBox="1"/>
          <p:nvPr/>
        </p:nvSpPr>
        <p:spPr>
          <a:xfrm>
            <a:off x="6537960" y="3145536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across tools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totals in three tools catches formula and filter mistakes early.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6309360" y="4169664"/>
            <a:ext cx="548640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18"/>
          <p:cNvSpPr txBox="1"/>
          <p:nvPr/>
        </p:nvSpPr>
        <p:spPr>
          <a:xfrm>
            <a:off x="6537960" y="4224528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first, chart later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Typing, dates and blanks drive everything downstream.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6309360" y="5248656"/>
            <a:ext cx="548640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0"/>
          <p:cNvSpPr txBox="1"/>
          <p:nvPr/>
        </p:nvSpPr>
        <p:spPr>
          <a:xfrm>
            <a:off x="6537960" y="53035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honest visuals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Zero-based axes and clear notes on partial periods keep the story trustworthy.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Dashboard: Bank Loan Analytics</a:t>
            </a:r>
            <a:endParaRPr lang="en-US" sz="3400" dirty="0"/>
          </a:p>
        </p:txBody>
      </p:sp>
      <p:pic>
        <p:nvPicPr>
          <p:cNvPr id="3" name="Image 0" descr="dash_lo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8412480" cy="4732020"/>
          </a:xfrm>
          <a:prstGeom prst="rect">
            <a:avLst/>
          </a:prstGeom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9189720" y="1280160"/>
            <a:ext cx="2468880" cy="47320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9372600" y="1417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read it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9372600" y="1920240"/>
            <a:ext cx="21488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cards: size, collections and risk rates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Bars: funding by state and branch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and age charts show borrower mix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Donuts: loan status and purpose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722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preview rendered from the project data, following the Power BI page layout.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Dashboard: Credit &amp; Debit</a:t>
            </a:r>
            <a:endParaRPr lang="en-US" sz="3400" dirty="0"/>
          </a:p>
        </p:txBody>
      </p:sp>
      <p:pic>
        <p:nvPicPr>
          <p:cNvPr id="3" name="Image 0" descr="dash_d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8412480" cy="4732020"/>
          </a:xfrm>
          <a:prstGeom prst="rect">
            <a:avLst/>
          </a:prstGeom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9189720" y="1280160"/>
            <a:ext cx="2468880" cy="47320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9372600" y="1417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read it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9372600" y="1920240"/>
            <a:ext cx="21488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cards: credit, debit, net flow and ratio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Lines: monthly credit vs debit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Bars: branch and bank comparison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row: method, risk share, description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722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preview rendered from the project data, following the Power BI page layout.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1379</Words>
  <Application>Microsoft Office PowerPoint</Application>
  <PresentationFormat>Widescreen</PresentationFormat>
  <Paragraphs>213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Loan &amp; Debit-Credit Analytics</dc:title>
  <dc:subject>PptxGenJS Presentation</dc:subject>
  <dc:creator>Nalinikanta Dash</dc:creator>
  <cp:lastModifiedBy>Nalinikanta Dash</cp:lastModifiedBy>
  <cp:revision>2</cp:revision>
  <dcterms:created xsi:type="dcterms:W3CDTF">2026-10-01T04:46:36Z</dcterms:created>
  <dcterms:modified xsi:type="dcterms:W3CDTF">2026-10-07T07:09:20Z</dcterms:modified>
</cp:coreProperties>
</file>